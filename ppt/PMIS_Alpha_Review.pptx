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017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28600"/>
            <a:ext cx="2651760" cy="25603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INTERNAL TECHNICAL REVIEW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800">
                <a:solidFill>
                  <a:srgbClr val="F0F4F8"/>
                </a:solidFill>
                <a:latin typeface="Calibri"/>
              </a:rPr>
              <a:t>Predictive Project Management
Information System (PMIS)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2677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00C8FF"/>
                </a:solidFill>
                <a:latin typeface="Calibri"/>
              </a:rPr>
              <a:t>ML-Assisted Delay Forecasting | Alpha Prototype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999232"/>
            <a:ext cx="11640312" cy="16459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3154680"/>
            <a:ext cx="2651760" cy="105156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3154680"/>
            <a:ext cx="26517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735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90FF"/>
                </a:solidFill>
                <a:latin typeface="Calibri"/>
              </a:rPr>
              <a:t>PROJECT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0F4F8"/>
                </a:solidFill>
                <a:latin typeface="Calibri"/>
              </a:rPr>
              <a:t>Devesh Jha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3154680"/>
            <a:ext cx="2651760" cy="105156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3154680"/>
            <a:ext cx="26517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32735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90FF"/>
                </a:solidFill>
                <a:latin typeface="Calibri"/>
              </a:rPr>
              <a:t>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566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0F4F8"/>
                </a:solidFill>
                <a:latin typeface="Calibri"/>
              </a:rPr>
              <a:t>Alpha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3154680"/>
            <a:ext cx="2651760" cy="105156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154680"/>
            <a:ext cx="26517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2735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90FF"/>
                </a:solidFill>
                <a:latin typeface="Calibri"/>
              </a:rPr>
              <a:t>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66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0F4F8"/>
                </a:solidFill>
                <a:latin typeface="Calibri"/>
              </a:rPr>
              <a:t>ML Pipeline and 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154680"/>
            <a:ext cx="2651760" cy="105156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400" y="3154680"/>
            <a:ext cx="26517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2735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90FF"/>
                </a:solidFill>
                <a:latin typeface="Calibri"/>
              </a:rPr>
              <a:t>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566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0F4F8"/>
                </a:solidFill>
                <a:latin typeface="Calibri"/>
              </a:rPr>
              <a:t>Prototype: Logic Validated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925312"/>
            <a:ext cx="12188952" cy="676656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A0AFBE"/>
                </a:solidFill>
                <a:latin typeface="Calibri"/>
              </a:rPr>
              <a:t>WHAT IS THIS?  I have built an AI system that predicts when a construction project will be delayed - before it actually gets delayed.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63056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A0AFBE"/>
                </a:solidFill>
                <a:latin typeface="Calibri"/>
              </a:rPr>
              <a:t>CURRENT STATUS  The core math and AI logic has been tested and validated. This review is to share findings and discuss the path forward.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82512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A0AFBE"/>
                </a:solidFill>
                <a:latin typeface="Calibri"/>
              </a:rPr>
              <a:t>GOAL OF TODAY  Get alignment on current architecture trade-offs and discuss the Phase 2 stabilisation plan.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620256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A0AFBE"/>
                </a:solidFill>
                <a:latin typeface="Calibri"/>
              </a:rPr>
              <a:t>PMIS Alpha Prototype | For Internal Review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1672" y="66202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A0AFBE"/>
                </a:solidFill>
                <a:latin typeface="Calibri"/>
              </a:rPr>
              <a:t>Slide 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"/>
            <a:ext cx="1554480" cy="246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 SLIDE 02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47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700">
                <a:solidFill>
                  <a:srgbClr val="F0F4F8"/>
                </a:solidFill>
                <a:latin typeface="Calibri"/>
              </a:rPr>
              <a:t>Limitations of Deterministic CPM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00C8FF"/>
                </a:solidFill>
                <a:latin typeface="Calibri"/>
              </a:rPr>
              <a:t>Why traditional project scheduling fails us in complex infrastructure projects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11731752" cy="1645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6949440" cy="395020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27632"/>
            <a:ext cx="6629400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Static Duration Assumptions  </a:t>
            </a:r>
            <a:r>
              <a:rPr b="0" sz="1150">
                <a:solidFill>
                  <a:srgbClr val="F0F4F8"/>
                </a:solidFill>
                <a:latin typeface="Calibri"/>
              </a:rPr>
              <a:t>CPM assigns one fixed duration per task, assuming ideal conditions. A foundation task gets the same 30 days whether it is on a controlled urban site or a monsoon-season high-risk zone.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Omitted Environmental Variables  </a:t>
            </a:r>
            <a:r>
              <a:rPr b="0" sz="1150">
                <a:solidFill>
                  <a:srgbClr val="F0F4F8"/>
                </a:solidFill>
                <a:latin typeface="Calibri"/>
              </a:rPr>
              <a:t>Systems ignore LWE zone security friction, terrain difficulty, vendor reliability, and seasonal weather - factors that are the primary delay drivers in our portfolio.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Reactive, Not Predictive  </a:t>
            </a:r>
            <a:r>
              <a:rPr b="0" sz="1150">
                <a:solidFill>
                  <a:srgbClr val="F0F4F8"/>
                </a:solidFill>
                <a:latin typeface="Calibri"/>
              </a:rPr>
              <a:t>Delays are detected only AFTER they occur. A PM discovers in week 14 that the project is already 3 weeks behind, with cascading costs already materialised.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Subjective Buffer Application  </a:t>
            </a:r>
            <a:r>
              <a:rPr b="0" sz="1150">
                <a:solidFill>
                  <a:srgbClr val="F0F4F8"/>
                </a:solidFill>
                <a:latin typeface="Calibri"/>
              </a:rPr>
              <a:t>PMs add time buffers based on gut feel - one pads 10%, another 25% for the same scope. No standardised, mathematically defensible methodology exists.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4389120" cy="3950208"/>
          </a:xfrm>
          <a:prstGeom prst="rect">
            <a:avLst/>
          </a:prstGeom>
          <a:solidFill>
            <a:srgbClr val="0A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463040"/>
            <a:ext cx="43891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5544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F5A623"/>
                </a:solidFill>
                <a:latin typeface="Calibri"/>
              </a:rPr>
              <a:t>IN SIMPLE TERMS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19" y="1810512"/>
            <a:ext cx="4206240" cy="1645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901952"/>
            <a:ext cx="4187952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Planning a road trip using only perfect traffic conditions - no rain, no detours. That is exactly what our current scheduling system does.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We find out we are behind schedule AFTER we are already behind - like checking the fuel gauge after the car stalls.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Different PMs add different safety buffers for the same work. Inconsistent and unscientific.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The AI system solves all three of these problems systematically.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486400"/>
            <a:ext cx="11823192" cy="475488"/>
          </a:xfrm>
          <a:prstGeom prst="rect">
            <a:avLst/>
          </a:prstGeom>
          <a:solidFill>
            <a:srgbClr val="2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5486400"/>
            <a:ext cx="64008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5550408"/>
            <a:ext cx="1159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5A623"/>
                </a:solidFill>
                <a:latin typeface="Calibri"/>
              </a:rPr>
              <a:t>NOTE: </a:t>
            </a:r>
            <a:r>
              <a:rPr sz="950">
                <a:solidFill>
                  <a:srgbClr val="F0F4F8"/>
                </a:solidFill>
                <a:latin typeface="Calibri"/>
              </a:rPr>
              <a:t>Current schedules are optimistic by design. No mathematical basis exists for the risk buffers in use today.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035040"/>
            <a:ext cx="11823192" cy="548640"/>
          </a:xfrm>
          <a:prstGeom prst="rect">
            <a:avLst/>
          </a:prstGeom>
          <a:solidFill>
            <a:srgbClr val="0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6035040"/>
            <a:ext cx="6400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089904"/>
            <a:ext cx="1159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5A623"/>
                </a:solidFill>
                <a:latin typeface="Calibri"/>
              </a:rPr>
              <a:t>KEY INSIGHT: </a:t>
            </a:r>
            <a:r>
              <a:rPr sz="1000">
                <a:solidFill>
                  <a:srgbClr val="F0F4F8"/>
                </a:solidFill>
                <a:latin typeface="Calibri"/>
              </a:rPr>
              <a:t>Every major delay in our portfolio traces back to a predictable environmental variable - one that our legacy system was blind 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20256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A0AFBE"/>
                </a:solidFill>
                <a:latin typeface="Calibri"/>
              </a:rPr>
              <a:t>PMIS Alpha Prototype | For Internal Review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6202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A0AFBE"/>
                </a:solidFill>
                <a:latin typeface="Calibri"/>
              </a:rPr>
              <a:t>Slide 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"/>
            <a:ext cx="1554480" cy="246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 SLIDE 03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47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700">
                <a:solidFill>
                  <a:srgbClr val="F0F4F8"/>
                </a:solidFill>
                <a:latin typeface="Calibri"/>
              </a:rPr>
              <a:t>Probabilistic Forecasting via Quantile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00C8FF"/>
                </a:solidFill>
                <a:latin typeface="Calibri"/>
              </a:rPr>
              <a:t>Replacing single-point estimates with ML-derived confidence intervals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11731752" cy="1645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6949440" cy="395020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27632"/>
            <a:ext cx="6629400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Algorithm: CatBoost Quantile Regression  </a:t>
            </a:r>
            <a:r>
              <a:rPr b="0" sz="1150">
                <a:solidFill>
                  <a:srgbClr val="F0F4F8"/>
                </a:solidFill>
                <a:latin typeface="Calibri"/>
              </a:rPr>
              <a:t>Three CatBoost models are trained - one each for P10, P50, and P90 quantiles - replacing a single-point estimate with a statistically grounded confidence interval.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Output: P10 / P50 / P90 Confidence Bounds  </a:t>
            </a:r>
            <a:r>
              <a:rPr b="0" sz="1150">
                <a:solidFill>
                  <a:srgbClr val="F0F4F8"/>
                </a:solidFill>
                <a:latin typeface="Calibri"/>
              </a:rPr>
              <a:t>P10 = optimistic case, P50 = median expected completion, P90 = conservative planning buffer. Every task gets a range, not just one number.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Feature Integration: Environmental Friction  </a:t>
            </a:r>
            <a:r>
              <a:rPr b="0" sz="1150">
                <a:solidFill>
                  <a:srgbClr val="F0F4F8"/>
                </a:solidFill>
                <a:latin typeface="Calibri"/>
              </a:rPr>
              <a:t>The model auto-incorporates monsoon overlap (day-count), LWE zone friction, vendor tier scores, and terrain difficulty - combined at inference time.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Real Data Acquisition Path  </a:t>
            </a:r>
            <a:r>
              <a:rPr b="0" sz="1150">
                <a:solidFill>
                  <a:srgbClr val="F0F4F8"/>
                </a:solidFill>
                <a:latin typeface="Calibri"/>
              </a:rPr>
              <a:t>Current training uses synthetic data. Path to real data: (1) extract ERP task records, (2) map to 8-feature schema, (3) retrain. The pipeline is ready - only the data source changes.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4389120" cy="3950208"/>
          </a:xfrm>
          <a:prstGeom prst="rect">
            <a:avLst/>
          </a:prstGeom>
          <a:solidFill>
            <a:srgbClr val="0A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463040"/>
            <a:ext cx="438912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5544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27AE60"/>
                </a:solidFill>
                <a:latin typeface="Calibri"/>
              </a:rPr>
              <a:t>IN SIMPLE TERMS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19" y="1810512"/>
            <a:ext cx="4206240" cy="1645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901952"/>
            <a:ext cx="4187952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Instead of '30 days', the system says: 'best case 25, most likely 30, but plan for 42 to be safe.'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Like a weather forecast: '70% chance of rain' is more useful than 'it might rain'. Same logic applied to project timelines.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The AI auto-checks: monsoon overlap? vendor reliability? high-risk zone? Each factor adjusts the forecast.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Connecting to real ERP data is a well-defined next step - not a research problem.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486400"/>
            <a:ext cx="11823192" cy="475488"/>
          </a:xfrm>
          <a:prstGeom prst="rect">
            <a:avLst/>
          </a:prstGeom>
          <a:solidFill>
            <a:srgbClr val="2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5486400"/>
            <a:ext cx="64008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5550408"/>
            <a:ext cx="1159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5A623"/>
                </a:solidFill>
                <a:latin typeface="Calibri"/>
              </a:rPr>
              <a:t>NOTE: </a:t>
            </a:r>
            <a:r>
              <a:rPr sz="950">
                <a:solidFill>
                  <a:srgbClr val="F0F4F8"/>
                </a:solidFill>
                <a:latin typeface="Calibri"/>
              </a:rPr>
              <a:t>Model trained on synthetic data, not live ERP history. Calibration to real data is the defined next milestone.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035040"/>
            <a:ext cx="11823192" cy="548640"/>
          </a:xfrm>
          <a:prstGeom prst="rect">
            <a:avLst/>
          </a:prstGeom>
          <a:solidFill>
            <a:srgbClr val="0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6035040"/>
            <a:ext cx="64008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089904"/>
            <a:ext cx="1159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27AE60"/>
                </a:solidFill>
                <a:latin typeface="Calibri"/>
              </a:rPr>
              <a:t>KEY INSIGHT: </a:t>
            </a:r>
            <a:r>
              <a:rPr sz="1000">
                <a:solidFill>
                  <a:srgbClr val="F0F4F8"/>
                </a:solidFill>
                <a:latin typeface="Calibri"/>
              </a:rPr>
              <a:t>P10/P50/P90 bounds give decision-makers a mathematically grounded basis for contingency budgeting - not guesswork.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20256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A0AFBE"/>
                </a:solidFill>
                <a:latin typeface="Calibri"/>
              </a:rPr>
              <a:t>PMIS Alpha Prototype | For Internal Review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6202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A0AFBE"/>
                </a:solidFill>
                <a:latin typeface="Calibri"/>
              </a:rPr>
              <a:t>Slide 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"/>
            <a:ext cx="1554480" cy="2468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 SLIDE 04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47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700">
                <a:solidFill>
                  <a:srgbClr val="F0F4F8"/>
                </a:solidFill>
                <a:latin typeface="Calibri"/>
              </a:rPr>
              <a:t>Current System Architecture (Alpha Build)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00C8FF"/>
                </a:solidFill>
                <a:latin typeface="Calibri"/>
              </a:rPr>
              <a:t>Understanding the deliberate design trade-offs of the monolithic prototype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11731752" cy="16459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6949440" cy="395020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27632"/>
            <a:ext cx="6629400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Technology Stack: Streamlit Monolith  </a:t>
            </a:r>
            <a:r>
              <a:rPr b="0" sz="1150">
                <a:solidFill>
                  <a:srgbClr val="F0F4F8"/>
                </a:solidFill>
                <a:latin typeface="Calibri"/>
              </a:rPr>
              <a:t>A single Streamlit Python application where the entire UI, data routing, and ML inference run in one process - enabling rapid iteration without a separate frontend layer.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Data Flow: Synchronous Execution  </a:t>
            </a:r>
            <a:r>
              <a:rPr b="0" sz="1150">
                <a:solidFill>
                  <a:srgbClr val="F0F4F8"/>
                </a:solidFill>
                <a:latin typeface="Calibri"/>
              </a:rPr>
              <a:t>Every user interaction re-runs the full Python script top-to-bottom. Feature engineering and CatBoost inference are sequential - correct, but no parallelism.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Memory Management: Model Caching  </a:t>
            </a:r>
            <a:r>
              <a:rPr b="0" sz="1150">
                <a:solidFill>
                  <a:srgbClr val="F0F4F8"/>
                </a:solidFill>
                <a:latin typeface="Calibri"/>
              </a:rPr>
              <a:t>@st.cache_resource holds the three CatBoost bundles (~4 MB each) in memory across sessions, avoiding a fresh disk read and ~2-3s deserialization on each inference call.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Critical Constraint: Single-Threaded Blocking  </a:t>
            </a:r>
            <a:r>
              <a:rPr b="0" sz="1150">
                <a:solidFill>
                  <a:srgbClr val="F0F4F8"/>
                </a:solidFill>
                <a:latin typeface="Calibri"/>
              </a:rPr>
              <a:t>Heavy operations (e.g., 500-node Monte Carlo simulation) block the single OS thread, freezing the UI for all users until completion. This is the primary architectural debt.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4389120" cy="3950208"/>
          </a:xfrm>
          <a:prstGeom prst="rect">
            <a:avLst/>
          </a:prstGeom>
          <a:solidFill>
            <a:srgbClr val="0A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463040"/>
            <a:ext cx="4389120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5544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90FF"/>
                </a:solidFill>
                <a:latin typeface="Calibri"/>
              </a:rPr>
              <a:t>IN SIMPLE TERMS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19" y="1810512"/>
            <a:ext cx="4206240" cy="16459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901952"/>
            <a:ext cx="4187952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A one-person shop: serves one customer perfectly, but ten customers simultaneously all wait in a single queue.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Everything runs in sequence: input → AI inference → render. Nothing runs in parallel.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This was intentional - the right trade-off to validate ML logic fast. Not a mistake.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Phase 2 directly addresses this by splitting the system into independent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486400"/>
            <a:ext cx="11823192" cy="475488"/>
          </a:xfrm>
          <a:prstGeom prst="rect">
            <a:avLst/>
          </a:prstGeom>
          <a:solidFill>
            <a:srgbClr val="2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5486400"/>
            <a:ext cx="64008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5550408"/>
            <a:ext cx="1159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5A623"/>
                </a:solidFill>
                <a:latin typeface="Calibri"/>
              </a:rPr>
              <a:t>NOTE: </a:t>
            </a:r>
            <a:r>
              <a:rPr sz="950">
                <a:solidFill>
                  <a:srgbClr val="F0F4F8"/>
                </a:solidFill>
                <a:latin typeface="Calibri"/>
              </a:rPr>
              <a:t>Single-threaded, single-process. Concurrent users cause blocking and latency spikes. Not suitable for multi-user production.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035040"/>
            <a:ext cx="11823192" cy="548640"/>
          </a:xfrm>
          <a:prstGeom prst="rect">
            <a:avLst/>
          </a:prstGeom>
          <a:solidFill>
            <a:srgbClr val="0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6035040"/>
            <a:ext cx="64008" cy="5486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089904"/>
            <a:ext cx="1159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E90FF"/>
                </a:solidFill>
                <a:latin typeface="Calibri"/>
              </a:rPr>
              <a:t>KEY INSIGHT: </a:t>
            </a:r>
            <a:r>
              <a:rPr sz="1000">
                <a:solidFill>
                  <a:srgbClr val="F0F4F8"/>
                </a:solidFill>
                <a:latin typeface="Calibri"/>
              </a:rPr>
              <a:t>The monolithic architecture was the right choice for prototype validation - proving ML logic in weeks rather than months. Phase 2 dismantles it systematically.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20256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A0AFBE"/>
                </a:solidFill>
                <a:latin typeface="Calibri"/>
              </a:rPr>
              <a:t>PMIS Alpha Prototype | For Internal Review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6202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A0AFBE"/>
                </a:solidFill>
                <a:latin typeface="Calibri"/>
              </a:rPr>
              <a:t>Slide 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"/>
            <a:ext cx="1554480" cy="2468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 SLIDE 05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47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700">
                <a:solidFill>
                  <a:srgbClr val="F0F4F8"/>
                </a:solidFill>
                <a:latin typeface="Calibri"/>
              </a:rPr>
              <a:t>ML Pipeline and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00C8FF"/>
                </a:solidFill>
                <a:latin typeface="Calibri"/>
              </a:rPr>
              <a:t>How the model is built, serialised, and deployed for inference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11731752" cy="16459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6949440" cy="395020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27632"/>
            <a:ext cx="6629400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CatBoost + Bayesian Ridge Baseline  </a:t>
            </a:r>
            <a:r>
              <a:rPr b="0" sz="1150">
                <a:solidFill>
                  <a:srgbClr val="F0F4F8"/>
                </a:solidFill>
                <a:latin typeface="Calibri"/>
              </a:rPr>
              <a:t>Three CatBoost models (P10/P50/P90) use loss_function='Quantile:alpha=q'. A Bayesian Ridge baseline is trained in parallel for direct comparison. All four models are bundled into data/pmis_model.pkl via joblib.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Training / Inference Separation  </a:t>
            </a:r>
            <a:r>
              <a:rPr b="0" sz="1150">
                <a:solidFill>
                  <a:srgbClr val="F0F4F8"/>
                </a:solidFill>
                <a:latin typeface="Calibri"/>
              </a:rPr>
              <a:t>Training runs offline via scripts/model.py. The result is a single artifact (pmis_model.pkl) loaded at startup via @st.cache_resource. The live app contains zero training code - pure inference consumer.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Active Feature Set (8 Features)  </a:t>
            </a:r>
            <a:r>
              <a:rPr b="0" sz="1150">
                <a:solidFill>
                  <a:srgbClr val="F0F4F8"/>
                </a:solidFill>
                <a:latin typeface="Calibri"/>
              </a:rPr>
              <a:t>Project_Type, District, LWE_Flag, Task_Category, Land_Type, Vendor_Tier, Planned_Duration, Monsoon_Flag. Vendor_Tier rating: 1 = premium (L&amp;T/Tata), 2 = mid-tier, 3 = local contractor.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Engineered but Inactive: TF-IDF NLP Layer  </a:t>
            </a:r>
            <a:r>
              <a:rPr b="0" sz="1150">
                <a:solidFill>
                  <a:srgbClr val="F0F4F8"/>
                </a:solidFill>
                <a:latin typeface="Calibri"/>
              </a:rPr>
              <a:t>TF-IDF vectorisation on Task_Name (max_features=100) is implemented in CELL 7b but commented out - disabled to maintain baseline stability and interpretability during validation.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4389120" cy="3950208"/>
          </a:xfrm>
          <a:prstGeom prst="rect">
            <a:avLst/>
          </a:prstGeom>
          <a:solidFill>
            <a:srgbClr val="0A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463040"/>
            <a:ext cx="4389120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5544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90FF"/>
                </a:solidFill>
                <a:latin typeface="Calibri"/>
              </a:rPr>
              <a:t>IN SIMPLE TERMS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19" y="1810512"/>
            <a:ext cx="4206240" cy="16459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901952"/>
            <a:ext cx="4187952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The AI was trained offline and packaged into one file (pmis_model.pkl). The live app loads it and predicts immediately - no retraining at runtime.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Four models trained: 3 AI quantile models (best/likely/worst) + 1 simpler statistical baseline to verify the AI is genuinely better.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8 inputs: project type, district, task category, land type, vendor tier, planned duration, LWE risk, monsoon overlap - all real, available project record fields.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A text-analysis layer (task descriptions) is built but switched off to keep outputs clean. It is the next planned upgrade.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486400"/>
            <a:ext cx="11823192" cy="475488"/>
          </a:xfrm>
          <a:prstGeom prst="rect">
            <a:avLst/>
          </a:prstGeom>
          <a:solidFill>
            <a:srgbClr val="2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5486400"/>
            <a:ext cx="64008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5550408"/>
            <a:ext cx="1159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5A623"/>
                </a:solidFill>
                <a:latin typeface="Calibri"/>
              </a:rPr>
              <a:t>NOTE: </a:t>
            </a:r>
            <a:r>
              <a:rPr sz="950">
                <a:solidFill>
                  <a:srgbClr val="F0F4F8"/>
                </a:solidFill>
                <a:latin typeface="Calibri"/>
              </a:rPr>
              <a:t>TF-IDF NLP layer commented out (CELL 7b). MLflow not yet active - versioning is file-system based (timestamped folders).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035040"/>
            <a:ext cx="11823192" cy="548640"/>
          </a:xfrm>
          <a:prstGeom prst="rect">
            <a:avLst/>
          </a:prstGeom>
          <a:solidFill>
            <a:srgbClr val="0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6035040"/>
            <a:ext cx="64008" cy="5486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089904"/>
            <a:ext cx="1159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E90FF"/>
                </a:solidFill>
                <a:latin typeface="Calibri"/>
              </a:rPr>
              <a:t>KEY INSIGHT: </a:t>
            </a:r>
            <a:r>
              <a:rPr sz="1000">
                <a:solidFill>
                  <a:srgbClr val="F0F4F8"/>
                </a:solidFill>
                <a:latin typeface="Calibri"/>
              </a:rPr>
              <a:t>Replacing pmis_model.pkl is all that is needed to update the model - zero code changes required in the live application.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20256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A0AFBE"/>
                </a:solidFill>
                <a:latin typeface="Calibri"/>
              </a:rPr>
              <a:t>PMIS Alpha Prototype | For Internal Review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6202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A0AFBE"/>
                </a:solidFill>
                <a:latin typeface="Calibri"/>
              </a:rPr>
              <a:t>Slide 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"/>
            <a:ext cx="1554480" cy="24688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 SLIDE 06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47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700">
                <a:solidFill>
                  <a:srgbClr val="F0F4F8"/>
                </a:solidFill>
                <a:latin typeface="Calibri"/>
              </a:rPr>
              <a:t>Proposed Backend Decoupling (Phase 2 Architecture)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00C8FF"/>
                </a:solidFill>
                <a:latin typeface="Calibri"/>
              </a:rPr>
              <a:t>Engineering the transition from monolith to microservice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11731752" cy="1645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6949440" cy="395020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27632"/>
            <a:ext cx="6629400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The Core Problem: Tight Coupling  </a:t>
            </a:r>
            <a:r>
              <a:rPr b="0" sz="1150">
                <a:solidFill>
                  <a:srgbClr val="F0F4F8"/>
                </a:solidFill>
                <a:latin typeface="Calibri"/>
              </a:rPr>
              <a:t>ML inference, data transformation, and UI rendering all share one Python execution context. A slow inference call degrades UI; a crash takes down everything. No separation of concerns, no independent scaling.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Proposed Solution: FastAPI Microservice  </a:t>
            </a:r>
            <a:r>
              <a:rPr b="0" sz="1150">
                <a:solidFill>
                  <a:srgbClr val="F0F4F8"/>
                </a:solidFill>
                <a:latin typeface="Calibri"/>
              </a:rPr>
              <a:t>FastAPI under Uvicorn ASGI supports async/await, enabling concurrent request handling. The Streamlit UI becomes a thin client calling the API via HTTP - instead of direct Python function calls.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Data Contracts via Pydantic  </a:t>
            </a:r>
            <a:r>
              <a:rPr b="0" sz="1150">
                <a:solidFill>
                  <a:srgbClr val="F0F4F8"/>
                </a:solidFill>
                <a:latin typeface="Calibri"/>
              </a:rPr>
              <a:t>Pydantic input models enforce field types, required fields, and value ranges at every endpoint. Invalid payloads are rejected with 422 errors before reaching the inference engine.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Current Status  </a:t>
            </a:r>
            <a:r>
              <a:rPr b="0" sz="1150">
                <a:solidFill>
                  <a:srgbClr val="F0F4F8"/>
                </a:solidFill>
                <a:latin typeface="Calibri"/>
              </a:rPr>
              <a:t>FastAPI is not yet implemented - deliberately excluded in Phase 1 to prioritise ML logic validation. Full implementation is the milestone-one deliverable of the Phase 2 sprint.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4389120" cy="3950208"/>
          </a:xfrm>
          <a:prstGeom prst="rect">
            <a:avLst/>
          </a:prstGeom>
          <a:solidFill>
            <a:srgbClr val="0A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463040"/>
            <a:ext cx="438912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5544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00C8FF"/>
                </a:solidFill>
                <a:latin typeface="Calibri"/>
              </a:rPr>
              <a:t>IN SIMPLE TERMS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19" y="1810512"/>
            <a:ext cx="4206240" cy="16459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901952"/>
            <a:ext cx="4187952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The UI and AI engine are currently glued in one file. Phase 2 splits them into two systems - like separating a waiter (UI) from the kitchen (AI engine).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Once behind FastAPI, multiple users can send requests simultaneously without blocking each other.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Pydantic acts as a strict bouncer - garbage data is rejected before the AI engine ever sees it.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This is the next 30-day sprint. Planned, designed, and ready to execute.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486400"/>
            <a:ext cx="11823192" cy="475488"/>
          </a:xfrm>
          <a:prstGeom prst="rect">
            <a:avLst/>
          </a:prstGeom>
          <a:solidFill>
            <a:srgbClr val="2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5486400"/>
            <a:ext cx="64008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5550408"/>
            <a:ext cx="1159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5A623"/>
                </a:solidFill>
                <a:latin typeface="Calibri"/>
              </a:rPr>
              <a:t>NOTE: </a:t>
            </a:r>
            <a:r>
              <a:rPr sz="950">
                <a:solidFill>
                  <a:srgbClr val="F0F4F8"/>
                </a:solidFill>
                <a:latin typeface="Calibri"/>
              </a:rPr>
              <a:t>FastAPI NOT yet implemented. Input validation relies solely on Streamlit UI constraints - fragile and bypassable.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035040"/>
            <a:ext cx="11823192" cy="548640"/>
          </a:xfrm>
          <a:prstGeom prst="rect">
            <a:avLst/>
          </a:prstGeom>
          <a:solidFill>
            <a:srgbClr val="0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6035040"/>
            <a:ext cx="64008" cy="5486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089904"/>
            <a:ext cx="1159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0C8FF"/>
                </a:solidFill>
                <a:latin typeface="Calibri"/>
              </a:rPr>
              <a:t>KEY INSIGHT: </a:t>
            </a:r>
            <a:r>
              <a:rPr sz="1000">
                <a:solidFill>
                  <a:srgbClr val="F0F4F8"/>
                </a:solidFill>
                <a:latin typeface="Calibri"/>
              </a:rPr>
              <a:t>API decoupling is the single highest-priority Phase 2 action - it unlocks concurrent access, independent scaling, and eliminates the input validation vulnerability.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20256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A0AFBE"/>
                </a:solidFill>
                <a:latin typeface="Calibri"/>
              </a:rPr>
              <a:t>PMIS Alpha Prototype | For Internal Review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6202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A0AFBE"/>
                </a:solidFill>
                <a:latin typeface="Calibri"/>
              </a:rPr>
              <a:t>Slide 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"/>
            <a:ext cx="1554480" cy="246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 SLIDE 07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47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700">
                <a:solidFill>
                  <a:srgbClr val="F0F4F8"/>
                </a:solidFill>
                <a:latin typeface="Calibri"/>
              </a:rPr>
              <a:t>Codebase Maturation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00C8FF"/>
                </a:solidFill>
                <a:latin typeface="Calibri"/>
              </a:rPr>
              <a:t>Engineering improvements applied to stabilise the Alpha prototype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11731752" cy="1645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6949440" cy="395020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27632"/>
            <a:ext cx="6629400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Dependency Pinning: requirements.txt  </a:t>
            </a:r>
            <a:r>
              <a:rPr b="0" sz="1150">
                <a:solidFill>
                  <a:srgbClr val="F0F4F8"/>
                </a:solidFill>
                <a:latin typeface="Calibri"/>
              </a:rPr>
              <a:t>All 15 production dependencies are version-pinned (e.g., catboost==1.2.10, streamlit==1.54.0). Any environment reproduces the exact binary stack - eliminating 'works on my machine' failures.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Centralised Logging: app.log  </a:t>
            </a:r>
            <a:r>
              <a:rPr b="0" sz="1150">
                <a:solidFill>
                  <a:srgbClr val="F0F4F8"/>
                </a:solidFill>
                <a:latin typeface="Calibri"/>
              </a:rPr>
              <a:t>print() statements replaced with Python's logging module at the orchestrator level (app/main.py). Output goes to stdout and app.log on disk, with severity filtering (INFO/WARNING/ERROR) and timestamps.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Dynamic Inference in Mid-Project Tracker  </a:t>
            </a:r>
            <a:r>
              <a:rPr b="0" sz="1150">
                <a:solidFill>
                  <a:srgbClr val="F0F4F8"/>
                </a:solidFill>
                <a:latin typeface="Calibri"/>
              </a:rPr>
              <a:t>Hardcoded schedule placeholders replaced with live CatBoost P50 inference calls. The tracker now recalculates duration dynamically when the user changes environmental parameters.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Testing Status  </a:t>
            </a:r>
            <a:r>
              <a:rPr b="0" sz="1150">
                <a:solidFill>
                  <a:srgbClr val="F0F4F8"/>
                </a:solidFill>
                <a:latin typeface="Calibri"/>
              </a:rPr>
              <a:t>One CPM smoke test (tests/smoke_test.py) exists. No Pytest unit tests for ML inference or UI modules. No CI/CD pipeline. Manual regression testing is the current sole method.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4389120" cy="3950208"/>
          </a:xfrm>
          <a:prstGeom prst="rect">
            <a:avLst/>
          </a:prstGeom>
          <a:solidFill>
            <a:srgbClr val="0A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463040"/>
            <a:ext cx="438912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5544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27AE60"/>
                </a:solidFill>
                <a:latin typeface="Calibri"/>
              </a:rPr>
              <a:t>IN SIMPLE TERMS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19" y="1810512"/>
            <a:ext cx="4206240" cy="1645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901952"/>
            <a:ext cx="4187952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All 15 library versions locked exactly - like pinning the exact tools used to build a bridge. Anyone who installs the project gets an identical toolset.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Replaced scattered print() messages with a structured app.log file with timestamps and severity - like a proper flight recorder.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Mid-project estimates now recalculate live using AI every time parameters change, instead of showing static numbers.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Honest gap: one CPM test exists, but no automated AI or UI tests. Phase 2 introduces Pytest coverage.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486400"/>
            <a:ext cx="11823192" cy="475488"/>
          </a:xfrm>
          <a:prstGeom prst="rect">
            <a:avLst/>
          </a:prstGeom>
          <a:solidFill>
            <a:srgbClr val="2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5486400"/>
            <a:ext cx="64008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5550408"/>
            <a:ext cx="1159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5A623"/>
                </a:solidFill>
                <a:latin typeface="Calibri"/>
              </a:rPr>
              <a:t>NOTE: </a:t>
            </a:r>
            <a:r>
              <a:rPr sz="950">
                <a:solidFill>
                  <a:srgbClr val="F0F4F8"/>
                </a:solidFill>
                <a:latin typeface="Calibri"/>
              </a:rPr>
              <a:t>No Pytest unit tests for ML inference or UI. One CPM smoke test exists. No CI/CD pipeline - manual regression testing only.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035040"/>
            <a:ext cx="11823192" cy="548640"/>
          </a:xfrm>
          <a:prstGeom prst="rect">
            <a:avLst/>
          </a:prstGeom>
          <a:solidFill>
            <a:srgbClr val="0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6035040"/>
            <a:ext cx="64008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089904"/>
            <a:ext cx="1159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27AE60"/>
                </a:solidFill>
                <a:latin typeface="Calibri"/>
              </a:rPr>
              <a:t>KEY INSIGHT: </a:t>
            </a:r>
            <a:r>
              <a:rPr sz="1000">
                <a:solidFill>
                  <a:srgbClr val="F0F4F8"/>
                </a:solidFill>
                <a:latin typeface="Calibri"/>
              </a:rPr>
              <a:t>Centralised logging + dependency pinning make the system diagnosable and reproducible - critical preconditions before any team handover.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20256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A0AFBE"/>
                </a:solidFill>
                <a:latin typeface="Calibri"/>
              </a:rPr>
              <a:t>PMIS Alpha Prototype | For Internal Review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6202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A0AFBE"/>
                </a:solidFill>
                <a:latin typeface="Calibri"/>
              </a:rPr>
              <a:t>Slide 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"/>
            <a:ext cx="1554480" cy="246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 SLIDE 08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47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700">
                <a:solidFill>
                  <a:srgbClr val="F0F4F8"/>
                </a:solidFill>
                <a:latin typeface="Calibri"/>
              </a:rPr>
              <a:t>Validation Methodology and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00C8FF"/>
                </a:solidFill>
                <a:latin typeface="Calibri"/>
              </a:rPr>
              <a:t>How model quality was measured and what the results actually tell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11731752" cy="1645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6949440" cy="395020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27632"/>
            <a:ext cx="6629400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Metrics: MAE, R2, RMSE on 20% Hold-out  </a:t>
            </a:r>
            <a:r>
              <a:rPr b="0" sz="1150">
                <a:solidFill>
                  <a:srgbClr val="F0F4F8"/>
                </a:solidFill>
                <a:latin typeface="Calibri"/>
              </a:rPr>
              <a:t>Training pipeline (TEST_SIZE=0.2, RANDOM_STATE=42) logs MAE, R2, and RMSE for all four models on a held-out test split. Metrics are saved inside the model artifact dictionary.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Bayesian Ridge Comparison Baseline  </a:t>
            </a:r>
            <a:r>
              <a:rPr b="0" sz="1150">
                <a:solidFill>
                  <a:srgbClr val="F0F4F8"/>
                </a:solidFill>
                <a:latin typeface="Calibri"/>
              </a:rPr>
              <a:t>A BayesianRidge model is trained on the same split for direct comparison. If CatBoost is not clearly superior, the added complexity is not justified. Results are printed side-by-side.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SHAP Explainability on P50 Model  </a:t>
            </a:r>
            <a:r>
              <a:rPr b="0" sz="1150">
                <a:solidFill>
                  <a:srgbClr val="F0F4F8"/>
                </a:solidFill>
                <a:latin typeface="Calibri"/>
              </a:rPr>
              <a:t>SHAP TreeExplainer generates a global bar chart and beeswarm plot for the P50 model. Output correctly identifies Vendor_Tier and Monsoon_Flag as the primary delay drivers.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Incorrect Predictions: Feedback Loop  </a:t>
            </a:r>
            <a:r>
              <a:rPr b="0" sz="1150">
                <a:solidFill>
                  <a:srgbClr val="F0F4F8"/>
                </a:solidFill>
                <a:latin typeface="Calibri"/>
              </a:rPr>
              <a:t>Divergent predictions are logged in a feedback ledger, accumulated, and included in the next retraining cycle as additional ground-truth data - closing the learning loop without code changes.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4389120" cy="3950208"/>
          </a:xfrm>
          <a:prstGeom prst="rect">
            <a:avLst/>
          </a:prstGeom>
          <a:solidFill>
            <a:srgbClr val="0A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463040"/>
            <a:ext cx="43891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5544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F5A623"/>
                </a:solidFill>
                <a:latin typeface="Calibri"/>
              </a:rPr>
              <a:t>IN SIMPLE TERMS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19" y="1810512"/>
            <a:ext cx="4206240" cy="1645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901952"/>
            <a:ext cx="4187952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Tested on data it had never seen (20% hold-out). Error numbers are real logged outputs, not estimates.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A simpler statistical model (Bayesian Ridge) was trained alongside for comparison - if AI is not clearly better, added complexity is unjustified.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SHAP explains WHY each prediction was made. It correctly flagged vendor quality and monsoon season as the biggest delay drivers.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Wrong prediction? The actual outcome is logged and feeds the next retraining cycle. The system self-corrects over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486400"/>
            <a:ext cx="11823192" cy="475488"/>
          </a:xfrm>
          <a:prstGeom prst="rect">
            <a:avLst/>
          </a:prstGeom>
          <a:solidFill>
            <a:srgbClr val="2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5486400"/>
            <a:ext cx="64008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5550408"/>
            <a:ext cx="1159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5A623"/>
                </a:solidFill>
                <a:latin typeface="Calibri"/>
              </a:rPr>
              <a:t>NOTE: </a:t>
            </a:r>
            <a:r>
              <a:rPr sz="950">
                <a:solidFill>
                  <a:srgbClr val="F0F4F8"/>
                </a:solidFill>
                <a:latin typeface="Calibri"/>
              </a:rPr>
              <a:t>Metrics are on synthetic data only. Results will shift on real ERP data - expected, and the retraining pipeline is already built to handle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035040"/>
            <a:ext cx="11823192" cy="548640"/>
          </a:xfrm>
          <a:prstGeom prst="rect">
            <a:avLst/>
          </a:prstGeom>
          <a:solidFill>
            <a:srgbClr val="0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6035040"/>
            <a:ext cx="64008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089904"/>
            <a:ext cx="1159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5A623"/>
                </a:solidFill>
                <a:latin typeface="Calibri"/>
              </a:rPr>
              <a:t>KEY INSIGHT: </a:t>
            </a:r>
            <a:r>
              <a:rPr sz="1000">
                <a:solidFill>
                  <a:srgbClr val="F0F4F8"/>
                </a:solidFill>
                <a:latin typeface="Calibri"/>
              </a:rPr>
              <a:t>SHAP output aligning with domain knowledge (Vendor Tier and Monsoon as top drivers) confirms the model learned the right relationships.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20256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A0AFBE"/>
                </a:solidFill>
                <a:latin typeface="Calibri"/>
              </a:rPr>
              <a:t>PMIS Alpha Prototype | For Internal Review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6202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A0AFBE"/>
                </a:solidFill>
                <a:latin typeface="Calibri"/>
              </a:rPr>
              <a:t>Slide 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"/>
            <a:ext cx="1554480" cy="2468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 SLIDE 09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47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700">
                <a:solidFill>
                  <a:srgbClr val="F0F4F8"/>
                </a:solidFill>
                <a:latin typeface="Calibri"/>
              </a:rPr>
              <a:t>Proposed Scalability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00C8FF"/>
                </a:solidFill>
                <a:latin typeface="Calibri"/>
              </a:rPr>
              <a:t>Infrastructure prerequisites for enterprise-grade multi-user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11731752" cy="16459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6949440" cy="395020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27632"/>
            <a:ext cx="6629400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Containerisation: Docker  </a:t>
            </a:r>
            <a:r>
              <a:rPr b="0" sz="1150">
                <a:solidFill>
                  <a:srgbClr val="F0F4F8"/>
                </a:solidFill>
                <a:latin typeface="Calibri"/>
              </a:rPr>
              <a:t>Frontend, FastAPI, PostgreSQL, and Redis containers orchestrated by Docker Compose with explicit base-image pinning (python:3.11-slim). Provides a direct, reproducible path to AWS ECS / Azure AKS.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State Persistence: PostgreSQL Migration  </a:t>
            </a:r>
            <a:r>
              <a:rPr b="0" sz="1150">
                <a:solidFill>
                  <a:srgbClr val="F0F4F8"/>
                </a:solidFill>
                <a:latin typeface="Calibri"/>
              </a:rPr>
              <a:t>Current system uses session_state and CSV files - a server restart wipes all data. Phase 3 migrates to PostgreSQL storing project records, prediction history, and session tokens.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Async Task Processing: Celery + Redis  </a:t>
            </a:r>
            <a:r>
              <a:rPr b="0" sz="1150">
                <a:solidFill>
                  <a:srgbClr val="F0F4F8"/>
                </a:solidFill>
                <a:latin typeface="Calibri"/>
              </a:rPr>
              <a:t>500-node Monte Carlo simulations currently block the main thread for 8-10 seconds. Celery offloads them to background workers; the UI returns immediately with a 'processing' status.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Current State: Zero Production Infrastructure  </a:t>
            </a:r>
            <a:r>
              <a:rPr b="0" sz="1150">
                <a:solidFill>
                  <a:srgbClr val="F0F4F8"/>
                </a:solidFill>
                <a:latin typeface="Calibri"/>
              </a:rPr>
              <a:t>No database, no container, no task queue. Runs entirely on local memory and CSV files. All of this is Phase 3 scope - after Phase 2 API decoupling is complete.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4389120" cy="3950208"/>
          </a:xfrm>
          <a:prstGeom prst="rect">
            <a:avLst/>
          </a:prstGeom>
          <a:solidFill>
            <a:srgbClr val="0A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463040"/>
            <a:ext cx="4389120" cy="6400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5544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90FF"/>
                </a:solidFill>
                <a:latin typeface="Calibri"/>
              </a:rPr>
              <a:t>IN SIMPLE TERMS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19" y="1810512"/>
            <a:ext cx="4206240" cy="16459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901952"/>
            <a:ext cx="4187952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Docker packages the entire application into a container that runs identically on any server - laptop, AWS, Azure. No more 'works on my machine'.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Server restart currently wipes all data. PostgreSQL stores project data persistently, surviving restarts and supporting multiple users.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Heavy AI computation currently freezes the screen for everyone. Celery runs it in the background - submit the job, get a notification when ready.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All Phase 3. Phase 2 decouples the API first, then Phase 3 builds the infrastructure beneath.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486400"/>
            <a:ext cx="11823192" cy="475488"/>
          </a:xfrm>
          <a:prstGeom prst="rect">
            <a:avLst/>
          </a:prstGeom>
          <a:solidFill>
            <a:srgbClr val="2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5486400"/>
            <a:ext cx="64008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5550408"/>
            <a:ext cx="1159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5A623"/>
                </a:solidFill>
                <a:latin typeface="Calibri"/>
              </a:rPr>
              <a:t>NOTE: </a:t>
            </a:r>
            <a:r>
              <a:rPr sz="950">
                <a:solidFill>
                  <a:srgbClr val="F0F4F8"/>
                </a:solidFill>
                <a:latin typeface="Calibri"/>
              </a:rPr>
              <a:t>Runs entirely on local memory and CSV files. No database, no container, no task queue. Server restart wipes all session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035040"/>
            <a:ext cx="11823192" cy="548640"/>
          </a:xfrm>
          <a:prstGeom prst="rect">
            <a:avLst/>
          </a:prstGeom>
          <a:solidFill>
            <a:srgbClr val="0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6035040"/>
            <a:ext cx="64008" cy="5486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089904"/>
            <a:ext cx="1159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E90FF"/>
                </a:solidFill>
                <a:latin typeface="Calibri"/>
              </a:rPr>
              <a:t>KEY INSIGHT: </a:t>
            </a:r>
            <a:r>
              <a:rPr sz="1000">
                <a:solidFill>
                  <a:srgbClr val="F0F4F8"/>
                </a:solidFill>
                <a:latin typeface="Calibri"/>
              </a:rPr>
              <a:t>Docker de-risks the cloud deployment decision entirely - the same image runs identically on AWS, Azure, or on-premise.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20256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A0AFBE"/>
                </a:solidFill>
                <a:latin typeface="Calibri"/>
              </a:rPr>
              <a:t>PMIS Alpha Prototype | For Internal Review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6202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A0AFBE"/>
                </a:solidFill>
                <a:latin typeface="Calibri"/>
              </a:rPr>
              <a:t>Slide 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"/>
            <a:ext cx="1554480" cy="246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 SLIDE 10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47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700">
                <a:solidFill>
                  <a:srgbClr val="F0F4F8"/>
                </a:solidFill>
                <a:latin typeface="Calibri"/>
              </a:rPr>
              <a:t>Strategic Value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00C8FF"/>
                </a:solidFill>
                <a:latin typeface="Calibri"/>
              </a:rPr>
              <a:t>How probabilistic ML forecasting creates direct operational and financial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11731752" cy="1645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6949440" cy="395020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27632"/>
            <a:ext cx="6629400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P90 Contingency Quantification  </a:t>
            </a:r>
            <a:r>
              <a:rPr b="0" sz="1150">
                <a:solidFill>
                  <a:srgbClr val="F0F4F8"/>
                </a:solidFill>
                <a:latin typeface="Calibri"/>
              </a:rPr>
              <a:t>Flat 10-15% portfolio-wide buffers replaced with mathematically derived worst-case timelines specific to each project's friction profile. Contingency reserves proportional to computed risk, not blanket padding.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Proactive Intervention: Leading Indicators  </a:t>
            </a:r>
            <a:r>
              <a:rPr b="0" sz="1150">
                <a:solidFill>
                  <a:srgbClr val="F0F4F8"/>
                </a:solidFill>
                <a:latin typeface="Calibri"/>
              </a:rPr>
              <a:t>Delay probability distributions are computed at the planning stage - before ground breaks - enabling pre-emptive intervention: alternate vendor selection, adjusted sequencing, early contingency activation.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Targeted Accountability via SHAP  </a:t>
            </a:r>
            <a:r>
              <a:rPr b="0" sz="1150">
                <a:solidFill>
                  <a:srgbClr val="F0F4F8"/>
                </a:solidFill>
                <a:latin typeface="Calibri"/>
              </a:rPr>
              <a:t>SHAP maps delay contributions: e.g., a 45-day slippage = 28 days (Vendor Tier 3) + 12 days (Monsoon) + 5 days (LWE friction). Gives management evidence-based justification for procurement decisions.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Business Value Dependency: Data Quality  </a:t>
            </a:r>
            <a:r>
              <a:rPr b="0" sz="1150">
                <a:solidFill>
                  <a:srgbClr val="F0F4F8"/>
                </a:solidFill>
                <a:latin typeface="Calibri"/>
              </a:rPr>
              <a:t>All value propositions are contingent on retraining with real ERP execution data. P10/P50/P90 outputs carry decision-grade validity only after real-data calibration.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4389120" cy="3950208"/>
          </a:xfrm>
          <a:prstGeom prst="rect">
            <a:avLst/>
          </a:prstGeom>
          <a:solidFill>
            <a:srgbClr val="0A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463040"/>
            <a:ext cx="438912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5544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27AE60"/>
                </a:solidFill>
                <a:latin typeface="Calibri"/>
              </a:rPr>
              <a:t>IN SIMPLE TERMS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19" y="1810512"/>
            <a:ext cx="4206240" cy="1645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901952"/>
            <a:ext cx="4187952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'Add 10% to every budget' replaced with 'this project needs 18% due to vendor risk + monsoon timing, but that other one needs only 6%'. Precise, not blanket.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Currently, delays are discovered in week 14. This system flags high-risk tasks at week 1 planning - before anything is committed.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AI predicts 45-day delay: SHAP shows '28 days - Tier 3 vendor, 12 days - monsoon, 5 days - LWE friction'. Concrete, data-backed reason to upgrade the vendor.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Full potential requires retraining on real historical project data - the Phase 3 milestone we are building towards.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486400"/>
            <a:ext cx="11823192" cy="475488"/>
          </a:xfrm>
          <a:prstGeom prst="rect">
            <a:avLst/>
          </a:prstGeom>
          <a:solidFill>
            <a:srgbClr val="2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5486400"/>
            <a:ext cx="64008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5550408"/>
            <a:ext cx="1159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5A623"/>
                </a:solidFill>
                <a:latin typeface="Calibri"/>
              </a:rPr>
              <a:t>NOTE: </a:t>
            </a:r>
            <a:r>
              <a:rPr sz="950">
                <a:solidFill>
                  <a:srgbClr val="F0F4F8"/>
                </a:solidFill>
                <a:latin typeface="Calibri"/>
              </a:rPr>
              <a:t>Full business value contingent on ERP data integration and real-data model retraining. Current outputs are indicative, not decision-grade.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035040"/>
            <a:ext cx="11823192" cy="548640"/>
          </a:xfrm>
          <a:prstGeom prst="rect">
            <a:avLst/>
          </a:prstGeom>
          <a:solidFill>
            <a:srgbClr val="0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6035040"/>
            <a:ext cx="64008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089904"/>
            <a:ext cx="1159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27AE60"/>
                </a:solidFill>
                <a:latin typeface="Calibri"/>
              </a:rPr>
              <a:t>KEY INSIGHT: </a:t>
            </a:r>
            <a:r>
              <a:rPr sz="1000">
                <a:solidFill>
                  <a:srgbClr val="F0F4F8"/>
                </a:solidFill>
                <a:latin typeface="Calibri"/>
              </a:rPr>
              <a:t>SHAP attribution transforms this from a black-box AI into a transparent decision tool - giving leadership data-backed justification for procurement and scheduling.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20256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A0AFBE"/>
                </a:solidFill>
                <a:latin typeface="Calibri"/>
              </a:rPr>
              <a:t>PMIS Alpha Prototype | For Internal Review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6202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A0AFBE"/>
                </a:solidFill>
                <a:latin typeface="Calibri"/>
              </a:rPr>
              <a:t>Slide 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"/>
            <a:ext cx="1554480" cy="2468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 SLIDE 11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47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700">
                <a:solidFill>
                  <a:srgbClr val="F0F4F8"/>
                </a:solidFill>
                <a:latin typeface="Calibri"/>
              </a:rPr>
              <a:t>System Constraints and Failure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00C8FF"/>
                </a:solidFill>
                <a:latin typeface="Calibri"/>
              </a:rPr>
              <a:t>Transparent assessment of current architectural risks and known failure modes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11731752" cy="16459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6949440" cy="395020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27632"/>
            <a:ext cx="6629400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Concurrency Failure: Single-Threaded Blocking  </a:t>
            </a:r>
            <a:r>
              <a:rPr b="0" sz="1150">
                <a:solidFill>
                  <a:srgbClr val="F0F4F8"/>
                </a:solidFill>
                <a:latin typeface="Calibri"/>
              </a:rPr>
              <a:t>Monte Carlo and CPM simulations block the single OS thread for 8-12 seconds. All other active users see a frozen UI during this window. Under 3+ concurrent heavy users, cascading timeouts occur.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Input Vulnerability: No Backend Data Contract  </a:t>
            </a:r>
            <a:r>
              <a:rPr b="0" sz="1150">
                <a:solidFill>
                  <a:srgbClr val="F0F4F8"/>
                </a:solidFill>
                <a:latin typeface="Calibri"/>
              </a:rPr>
              <a:t>Validation relies solely on Streamlit UI widgets. Bypassing the UI - via session state mutation or scripting - sends malformed data directly to the CatBoost engine, causing an unhandled exception and server crash.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Feature Completeness: NLP Layer Disabled  </a:t>
            </a:r>
            <a:r>
              <a:rPr b="0" sz="1150">
                <a:solidFill>
                  <a:srgbClr val="F0F4F8"/>
                </a:solidFill>
                <a:latin typeface="Calibri"/>
              </a:rPr>
              <a:t>TF-IDF vectorisation on task descriptions is implemented but disabled at inference time. Semantic signals in unstructured text are currently ignored - a documented next improvement.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150">
                <a:solidFill>
                  <a:srgbClr val="1E90FF"/>
                </a:solidFill>
                <a:latin typeface="Calibri"/>
              </a:rPr>
              <a:t>  Production Suitability  </a:t>
            </a:r>
            <a:r>
              <a:rPr b="0" sz="1150">
                <a:solidFill>
                  <a:srgbClr val="F0F4F8"/>
                </a:solidFill>
                <a:latin typeface="Calibri"/>
              </a:rPr>
              <a:t>Explicitly scoped as a single-user local validation tool. Concurrent access, input validation robustness, and persistent state are all Phase 2/3 prerequisites before any network exposure.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4389120" cy="3950208"/>
          </a:xfrm>
          <a:prstGeom prst="rect">
            <a:avLst/>
          </a:prstGeom>
          <a:solidFill>
            <a:srgbClr val="0A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463040"/>
            <a:ext cx="438912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5544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E74C3C"/>
                </a:solidFill>
                <a:latin typeface="Calibri"/>
              </a:rPr>
              <a:t>IN SIMPLE TERMS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19" y="1810512"/>
            <a:ext cx="4206240" cy="16459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1901952"/>
            <a:ext cx="4187952" cy="3419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A toll booth with one lane. One car is fine; ten cars and nine wait - some give up. That is our system with multiple simultaneous users.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The UI form is the only door. If someone finds a back door, garbage data crashes the AI engine. Phase 2 (FastAPI + Pydantic) builds a proper checkpoint.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Text analysis feature built but switched off - deliberately, to keep outputs stable and explainable during this validation phase.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100" i="0">
                <a:solidFill>
                  <a:srgbClr val="F0F4F8"/>
                </a:solidFill>
                <a:latin typeface="Calibri"/>
              </a:rPr>
              <a:t>  This is a validated prototype, not a deployed product. Every constraint here has a planned resolution in the roadmap.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486400"/>
            <a:ext cx="11823192" cy="475488"/>
          </a:xfrm>
          <a:prstGeom prst="rect">
            <a:avLst/>
          </a:prstGeom>
          <a:solidFill>
            <a:srgbClr val="2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5486400"/>
            <a:ext cx="64008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5550408"/>
            <a:ext cx="1159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F5A623"/>
                </a:solidFill>
                <a:latin typeface="Calibri"/>
              </a:rPr>
              <a:t>NOTE: </a:t>
            </a:r>
            <a:r>
              <a:rPr sz="950">
                <a:solidFill>
                  <a:srgbClr val="F0F4F8"/>
                </a:solidFill>
                <a:latin typeface="Calibri"/>
              </a:rPr>
              <a:t>Multi-user concurrent access causes blocking and potential crashes. UI bypass can inject malformed data directly into the inference engine.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035040"/>
            <a:ext cx="11823192" cy="548640"/>
          </a:xfrm>
          <a:prstGeom prst="rect">
            <a:avLst/>
          </a:prstGeom>
          <a:solidFill>
            <a:srgbClr val="0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6035040"/>
            <a:ext cx="64008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6089904"/>
            <a:ext cx="1159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E74C3C"/>
                </a:solidFill>
                <a:latin typeface="Calibri"/>
              </a:rPr>
              <a:t>KEY INSIGHT: </a:t>
            </a:r>
            <a:r>
              <a:rPr sz="1000">
                <a:solidFill>
                  <a:srgbClr val="F0F4F8"/>
                </a:solidFill>
                <a:latin typeface="Calibri"/>
              </a:rPr>
              <a:t>Transparent disclosure of these failure modes demonstrates engineering maturity. Every constraint has a concrete, planned resolution in the Phase 2/3 roadmap.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20256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A0AFBE"/>
                </a:solidFill>
                <a:latin typeface="Calibri"/>
              </a:rPr>
              <a:t>PMIS Alpha Prototype | For Internal Review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6202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A0AFBE"/>
                </a:solidFill>
                <a:latin typeface="Calibri"/>
              </a:rPr>
              <a:t>Slide 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"/>
            <a:ext cx="1554480" cy="2468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 SLIDE 12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47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700">
                <a:solidFill>
                  <a:srgbClr val="F0F4F8"/>
                </a:solidFill>
                <a:latin typeface="Calibri"/>
              </a:rPr>
              <a:t>Technical Execution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00C8FF"/>
                </a:solidFill>
                <a:latin typeface="Calibri"/>
              </a:rPr>
              <a:t>Phased transition from Alpha prototype to production-ready connected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11731752" cy="16459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81328"/>
            <a:ext cx="3566160" cy="489204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81328"/>
            <a:ext cx="35661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093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27AE60"/>
                </a:solidFill>
                <a:latin typeface="Calibri"/>
              </a:rPr>
              <a:t>PHASE 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92808"/>
            <a:ext cx="329184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311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0F4F8"/>
                </a:solidFill>
                <a:latin typeface="Calibri"/>
              </a:rPr>
              <a:t>Logic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70048"/>
            <a:ext cx="3291840" cy="1645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779776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27AE60"/>
                </a:solidFill>
                <a:latin typeface="Calibri"/>
              </a:rPr>
              <a:t>Prototype Delivered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0F4F8"/>
                </a:solidFill>
                <a:latin typeface="Calibri"/>
              </a:rPr>
              <a:t>Functional Streamlit monolith with full UI flow and interactive outputs.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48456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27AE60"/>
                </a:solidFill>
                <a:latin typeface="Calibri"/>
              </a:rPr>
              <a:t>ML Pipeline Validated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0F4F8"/>
                </a:solidFill>
                <a:latin typeface="Calibri"/>
              </a:rPr>
              <a:t>CatBoost Quantile Regression for P10/P50/P90 inference confirmed stable on synthetic dataset.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517136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27AE60"/>
                </a:solidFill>
                <a:latin typeface="Calibri"/>
              </a:rPr>
              <a:t>SHAP Integrated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0F4F8"/>
                </a:solidFill>
                <a:latin typeface="Calibri"/>
              </a:rPr>
              <a:t>Feature attribution working, correctly identifying Vendor Tier and Monsoon as primary friction drivers.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385816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27AE60"/>
                </a:solidFill>
                <a:latin typeface="Calibri"/>
              </a:rPr>
              <a:t>Codebase Stabilised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0F4F8"/>
                </a:solidFill>
                <a:latin typeface="Calibri"/>
              </a:rPr>
              <a:t>Logging, dependency pinning, and dynamic inference substitution completed.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481328"/>
            <a:ext cx="3566160" cy="489204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81328"/>
            <a:ext cx="356616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6093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F5A623"/>
                </a:solidFill>
                <a:latin typeface="Calibri"/>
              </a:rPr>
              <a:t>PHASE 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1892808"/>
            <a:ext cx="329184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NEXT PHASE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2311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0F4F8"/>
                </a:solidFill>
                <a:latin typeface="Calibri"/>
              </a:rPr>
              <a:t>Architecture Decoupling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2670048"/>
            <a:ext cx="3291840" cy="1645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20" y="2779776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F5A623"/>
                </a:solidFill>
                <a:latin typeface="Calibri"/>
              </a:rPr>
              <a:t>FastAPI Microservice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0F4F8"/>
                </a:solidFill>
                <a:latin typeface="Calibri"/>
              </a:rPr>
              <a:t>Stand up FastAPI + Uvicorn async backend absorbing all ML inference and data transformation calls.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648456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F5A623"/>
                </a:solidFill>
                <a:latin typeface="Calibri"/>
              </a:rPr>
              <a:t>Pydantic Data Contracts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0F4F8"/>
                </a:solidFill>
                <a:latin typeface="Calibri"/>
              </a:rPr>
              <a:t>Strict HTTP schema validation - reject malformed payloads before reaching inference engine.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517136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F5A623"/>
                </a:solidFill>
                <a:latin typeface="Calibri"/>
              </a:rPr>
              <a:t>Docker Containerisation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0F4F8"/>
                </a:solidFill>
                <a:latin typeface="Calibri"/>
              </a:rPr>
              <a:t>Package frontend and API containers for environment-agnostic deployment.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5385816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F5A623"/>
                </a:solidFill>
                <a:latin typeface="Calibri"/>
              </a:rPr>
              <a:t>Pytest Integration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0F4F8"/>
                </a:solidFill>
                <a:latin typeface="Calibri"/>
              </a:rPr>
              <a:t>Establish automated unit test coverage for all inference endpoints and data transforms.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481328"/>
            <a:ext cx="3566160" cy="489204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0" y="1481328"/>
            <a:ext cx="3566160" cy="73152"/>
          </a:xfrm>
          <a:prstGeom prst="rect">
            <a:avLst/>
          </a:prstGeom>
          <a:solidFill>
            <a:srgbClr val="A0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16093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A0AFBE"/>
                </a:solidFill>
                <a:latin typeface="Calibri"/>
              </a:rPr>
              <a:t>PHASE 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1892808"/>
            <a:ext cx="3291840" cy="256032"/>
          </a:xfrm>
          <a:prstGeom prst="rect">
            <a:avLst/>
          </a:prstGeom>
          <a:solidFill>
            <a:srgbClr val="A0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EVALUATING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22311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0F4F8"/>
                </a:solidFill>
                <a:latin typeface="Calibri"/>
              </a:rPr>
              <a:t>Async Scaling &amp; ERP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2670048"/>
            <a:ext cx="3291840" cy="16459"/>
          </a:xfrm>
          <a:prstGeom prst="rect">
            <a:avLst/>
          </a:prstGeom>
          <a:solidFill>
            <a:srgbClr val="A0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2779776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A0AFBE"/>
                </a:solidFill>
                <a:latin typeface="Calibri"/>
              </a:rPr>
              <a:t>Celery + Redis Queues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0F4F8"/>
                </a:solidFill>
                <a:latin typeface="Calibri"/>
              </a:rPr>
              <a:t>Offload heavy Monte Carlo / CPM computations to async worker processes.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3648456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A0AFBE"/>
                </a:solidFill>
                <a:latin typeface="Calibri"/>
              </a:rPr>
              <a:t>PostgreSQL Migration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0F4F8"/>
                </a:solidFill>
                <a:latin typeface="Calibri"/>
              </a:rPr>
              <a:t>Replace in-memory session state and CSVs with a persistent relational schema.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517136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A0AFBE"/>
                </a:solidFill>
                <a:latin typeface="Calibri"/>
              </a:rPr>
              <a:t>ERP Data Ingestion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0F4F8"/>
                </a:solidFill>
                <a:latin typeface="Calibri"/>
              </a:rPr>
              <a:t>Map, normalise, and ingest real historical project execution data to trigger true-variance model retrain.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5385816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A0AFBE"/>
                </a:solidFill>
                <a:latin typeface="Calibri"/>
              </a:rPr>
              <a:t>MLflow Tracking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F0F4F8"/>
                </a:solidFill>
                <a:latin typeface="Calibri"/>
              </a:rPr>
              <a:t>Formal experiment tracking, model versioning, and data drift monitoring.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016752"/>
            <a:ext cx="11823192" cy="548640"/>
          </a:xfrm>
          <a:prstGeom prst="rect">
            <a:avLst/>
          </a:prstGeom>
          <a:solidFill>
            <a:srgbClr val="0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6016752"/>
            <a:ext cx="64008" cy="5486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6071616"/>
            <a:ext cx="1159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E90FF"/>
                </a:solidFill>
                <a:latin typeface="Calibri"/>
              </a:rPr>
              <a:t>KEY INSIGHT: </a:t>
            </a:r>
            <a:r>
              <a:rPr sz="1000">
                <a:solidFill>
                  <a:srgbClr val="F0F4F8"/>
                </a:solidFill>
                <a:latin typeface="Calibri"/>
              </a:rPr>
              <a:t>Phase 2 FastAPI decoupling is the critical-path milestone. Every Phase 3 capability - async scaling, ERP data, persistent state - depends on the API layer being in place first.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620256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A0AFBE"/>
                </a:solidFill>
                <a:latin typeface="Calibri"/>
              </a:rPr>
              <a:t>PMIS Alpha Prototype | For Internal Review 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1672" y="66202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A0AFBE"/>
                </a:solidFill>
                <a:latin typeface="Calibri"/>
              </a:rPr>
              <a:t>Slide 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"/>
            <a:ext cx="1554480" cy="2468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 SLIDE 13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47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700">
                <a:solidFill>
                  <a:srgbClr val="F0F4F8"/>
                </a:solidFill>
                <a:latin typeface="Calibri"/>
              </a:rPr>
              <a:t>Prototype Capabilities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00C8FF"/>
                </a:solidFill>
                <a:latin typeface="Calibri"/>
              </a:rPr>
              <a:t>Live navigation of the PMIS Alpha build - two-scenario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11731752" cy="16459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1508760"/>
            <a:ext cx="6217920" cy="155448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69164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1E90FF"/>
                </a:solidFill>
                <a:latin typeface="Calibri"/>
              </a:rPr>
              <a:t>LIVE ALPHA BUILD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889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100">
                <a:solidFill>
                  <a:srgbClr val="A0AFBE"/>
                </a:solidFill>
                <a:latin typeface="Calibri"/>
              </a:rPr>
              <a:t>Run: streamlit run pmisapp.py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00400"/>
            <a:ext cx="2651760" cy="251460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26517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880360"/>
            <a:ext cx="265176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Step 1
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328416"/>
            <a:ext cx="245059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0F4F8"/>
                </a:solidFill>
                <a:latin typeface="Calibri"/>
              </a:rPr>
              <a:t>Set parameters: Tier 1 Vendor · Low LWE Risk District · April start (pre-monsoon).
→ Observe P50 duration as the ideal-condition baseline reference.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3200400"/>
            <a:ext cx="2651760" cy="251460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3200400"/>
            <a:ext cx="26517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2880360"/>
            <a:ext cx="265176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Step 2
Friction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3328416"/>
            <a:ext cx="245059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0F4F8"/>
                </a:solidFill>
                <a:latin typeface="Calibri"/>
              </a:rPr>
              <a:t>Modify: switch to Tier 3 Vendor · High LWE Risk Zone · June start (deep monsoon).
→ Observe P90 bound stretch dramatically - each parameter multiplies delay risk.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00400"/>
            <a:ext cx="2651760" cy="251460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200400"/>
            <a:ext cx="26517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880360"/>
            <a:ext cx="265176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Step 3
SHAP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328416"/>
            <a:ext cx="245059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0F4F8"/>
                </a:solidFill>
                <a:latin typeface="Calibri"/>
              </a:rPr>
              <a:t>Open SHAP explainability panel for the friction scenario.
→ Review per-feature attribution: which factor contributed most days of delay.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3200400"/>
            <a:ext cx="2651760" cy="251460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3200400"/>
            <a:ext cx="26517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2880360"/>
            <a:ext cx="2651760" cy="2743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Step 4
CPM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3328416"/>
            <a:ext cx="245059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F0F4F8"/>
                </a:solidFill>
                <a:latin typeface="Calibri"/>
              </a:rPr>
              <a:t>Navigate to the Critical Path view.
→ Observe how the delay distributes across the task network and shifts the project end date.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016752"/>
            <a:ext cx="11823192" cy="548640"/>
          </a:xfrm>
          <a:prstGeom prst="rect">
            <a:avLst/>
          </a:prstGeom>
          <a:solidFill>
            <a:srgbClr val="0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6016752"/>
            <a:ext cx="64008" cy="5486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6071616"/>
            <a:ext cx="1159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E90FF"/>
                </a:solidFill>
                <a:latin typeface="Calibri"/>
              </a:rPr>
              <a:t>KEY INSIGHT: </a:t>
            </a:r>
            <a:r>
              <a:rPr sz="1000">
                <a:solidFill>
                  <a:srgbClr val="F0F4F8"/>
                </a:solidFill>
                <a:latin typeface="Calibri"/>
              </a:rPr>
              <a:t>The two-scenario walkthrough makes the AI's sensitivity to environmental friction immediately tangible - even for non-technical stakeholders watching the numbers change in real time.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20256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A0AFBE"/>
                </a:solidFill>
                <a:latin typeface="Calibri"/>
              </a:rPr>
              <a:t>PMIS Alpha Prototype | For Internal Review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6202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A0AFBE"/>
                </a:solidFill>
                <a:latin typeface="Calibri"/>
              </a:rPr>
              <a:t>Slide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91440"/>
            <a:ext cx="1554480" cy="2468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7090D"/>
                </a:solidFill>
                <a:latin typeface="Calibri"/>
              </a:rPr>
              <a:t> SLIDE 14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47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700">
                <a:solidFill>
                  <a:srgbClr val="F0F4F8"/>
                </a:solidFill>
                <a:latin typeface="Calibri"/>
              </a:rPr>
              <a:t>Appendix - Technical Review &amp;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00C8FF"/>
                </a:solidFill>
                <a:latin typeface="Calibri"/>
              </a:rPr>
              <a:t>Anticipated questions and prepared responses for the review panel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11731752" cy="16459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751576" cy="138988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4864" cy="13898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81912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E90FF"/>
                </a:solidFill>
                <a:latin typeface="Calibri"/>
              </a:rPr>
              <a:t>Q: Is this production ready?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20240"/>
            <a:ext cx="5568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0F4F8"/>
                </a:solidFill>
                <a:latin typeface="Calibri"/>
              </a:rPr>
              <a:t>No - deliberately. This Alpha build prioritises ML logic correctness. FastAPI decoupling and Pydantic validation must be completed before exposing to network traffic or concurrent users.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1508760"/>
            <a:ext cx="5751576" cy="138988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3056" y="1508760"/>
            <a:ext cx="54864" cy="13898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581912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E90FF"/>
                </a:solidFill>
                <a:latin typeface="Calibri"/>
              </a:rPr>
              <a:t>Q: Why Streamlit and not a proper web framework?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1920240"/>
            <a:ext cx="5568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0F4F8"/>
                </a:solidFill>
                <a:latin typeface="Calibri"/>
              </a:rPr>
              <a:t>Streamlit converts Python data science code into interactive UI without frontend engineering - enabling rapid iteration on ML outputs. It is a temporary presentation layer, not the final architecture.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90088"/>
            <a:ext cx="5751576" cy="138988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990088"/>
            <a:ext cx="54864" cy="13898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063240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E90FF"/>
                </a:solidFill>
                <a:latin typeface="Calibri"/>
              </a:rPr>
              <a:t>Q: What happens if multiple users access it simultaneously?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401568"/>
            <a:ext cx="5568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0F4F8"/>
                </a:solidFill>
                <a:latin typeface="Calibri"/>
              </a:rPr>
              <a:t>The server thread blocks and serves sequentially. Under 3+ concurrent heavy users, response times spike and later requests timeout or receive 503 errors. This is the primary Phase 2 target.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2990088"/>
            <a:ext cx="5751576" cy="138988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2990088"/>
            <a:ext cx="54864" cy="13898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3063240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E90FF"/>
                </a:solidFill>
                <a:latin typeface="Calibri"/>
              </a:rPr>
              <a:t>Q: If trained on fake data, why trust it at all?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3401568"/>
            <a:ext cx="5568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0F4F8"/>
                </a:solidFill>
                <a:latin typeface="Calibri"/>
              </a:rPr>
              <a:t>The specific weights are uncalibrated, but the pipeline - feature ingestion, quantile inference, SHAP, CPM integration - is architecturally sound. Switching to real ERP data requires only a data source change and retrain.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71416"/>
            <a:ext cx="5751576" cy="138988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471416"/>
            <a:ext cx="54864" cy="13898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544568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E90FF"/>
                </a:solidFill>
                <a:latin typeface="Calibri"/>
              </a:rPr>
              <a:t>Q: Are you tracking model performance over time?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882896"/>
            <a:ext cx="5568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0F4F8"/>
                </a:solidFill>
                <a:latin typeface="Calibri"/>
              </a:rPr>
              <a:t>Not yet. MLflow tracking and drift alerting are Phase 3 scope. Currently, versioning uses timestamped file-system artifact folders - functional but not enterprise-grade.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3056" y="4471416"/>
            <a:ext cx="5751576" cy="138988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6" y="4471416"/>
            <a:ext cx="54864" cy="13898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0216" y="4544568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1E90FF"/>
                </a:solidFill>
                <a:latin typeface="Calibri"/>
              </a:rPr>
              <a:t>Q: What do you need from leadership today?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882896"/>
            <a:ext cx="5568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F0F4F8"/>
                </a:solidFill>
                <a:latin typeface="Calibri"/>
              </a:rPr>
              <a:t>1) Approve the Phase 2 FastAPI sprint (30-day scope).  2) Create a channel for ERP data access discussions.  3) Acknowledge the architectural limitations - this is not production-ready as-is.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016752"/>
            <a:ext cx="11823192" cy="548640"/>
          </a:xfrm>
          <a:prstGeom prst="rect">
            <a:avLst/>
          </a:prstGeom>
          <a:solidFill>
            <a:srgbClr val="08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6016752"/>
            <a:ext cx="64008" cy="5486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6071616"/>
            <a:ext cx="1159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E90FF"/>
                </a:solidFill>
                <a:latin typeface="Calibri"/>
              </a:rPr>
              <a:t>KEY INSIGHT: </a:t>
            </a:r>
            <a:r>
              <a:rPr sz="1000">
                <a:solidFill>
                  <a:srgbClr val="F0F4F8"/>
                </a:solidFill>
                <a:latin typeface="Calibri"/>
              </a:rPr>
              <a:t>The strongest answer to any tough question today: 'I know the limitation. It was built this way deliberately to validate the ML logic fast. The roadmap addresses it directly.'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11112"/>
            <a:ext cx="12188952" cy="2468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20256"/>
            <a:ext cx="9902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00">
                <a:solidFill>
                  <a:srgbClr val="A0AFBE"/>
                </a:solidFill>
                <a:latin typeface="Calibri"/>
              </a:rPr>
              <a:t>PMIS Alpha Prototype | For Internal Review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2" y="66202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700">
                <a:solidFill>
                  <a:srgbClr val="A0AFBE"/>
                </a:solidFill>
                <a:latin typeface="Calibri"/>
              </a:rPr>
              <a:t>Slide 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